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+mn-lt"/>
              </a:rPr>
              <a:t>MAE en prueba 2018 (MW)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 prueba 2018 (MW)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B2A6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E88E5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Media</c:v>
                  </c:pt>
                  <c:pt idx="1">
                    <c:v>Referencia estacional</c:v>
                  </c:pt>
                  <c:pt idx="2">
                    <c:v>Árbol prof. 12</c:v>
                  </c:pt>
                  <c:pt idx="3">
                    <c:v>KNN k=15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1019</c:v>
                </c:pt>
                <c:pt idx="1">
                  <c:v>611</c:v>
                </c:pt>
                <c:pt idx="2">
                  <c:v>413</c:v>
                </c:pt>
                <c:pt idx="3">
                  <c:v>413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+mn-lt"/>
              </a:rPr>
              <a:t>Costo en prueba 2018 (FP + 5 × FN)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Costo</c:v>
                </c:pt>
              </c:strCache>
            </c:strRef>
          </c:tx>
          <c:spPr>
            <a:solidFill>
              <a:srgbClr val="0B2A6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B2A6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88E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E88E5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Directo</c:v>
                  </c:pt>
                  <c:pt idx="1">
                    <c:v>Regresión + umbral</c:v>
                  </c:pt>
                  <c:pt idx="2">
                    <c:v>Regresión + margen 475 MW</c:v>
                  </c:pt>
                  <c:pt idx="3">
                    <c:v>Directo + corte 0,35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1327</c:v>
                </c:pt>
                <c:pt idx="1">
                  <c:v>2410</c:v>
                </c:pt>
                <c:pt idx="2">
                  <c:v>1142</c:v>
                </c:pt>
                <c:pt idx="3">
                  <c:v>1257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1F5FB"/>
          </a:solidFill>
          <a:ln/>
        </p:spPr>
      </p:sp>
      <p:pic>
        <p:nvPicPr>
          <p:cNvPr id="3" name="Image 0" descr="isfdy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4796028"/>
            <a:ext cx="848426" cy="310896"/>
          </a:xfrm>
          <a:prstGeom prst="rect">
            <a:avLst/>
          </a:prstGeom>
        </p:spPr>
      </p:pic>
      <p:pic>
        <p:nvPicPr>
          <p:cNvPr id="4" name="Image 1" descr="cammes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8433" y="4777740"/>
            <a:ext cx="469807" cy="34747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194560" y="4800600"/>
            <a:ext cx="4572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TP Integrador de Aprendizaje Automático · Demanda eléctrica del GBA</a:t>
            </a:r>
            <a:endParaRPr lang="en-US" sz="1000" dirty="0"/>
          </a:p>
        </p:txBody>
      </p:sp>
      <p:sp>
        <p:nvSpPr>
          <p:cNvPr id="6" name="Shape 2"/>
          <p:cNvSpPr/>
          <p:nvPr/>
        </p:nvSpPr>
        <p:spPr>
          <a:xfrm>
            <a:off x="457200" y="914400"/>
            <a:ext cx="822960" cy="4572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7" name="Text 3"/>
          <p:cNvSpPr/>
          <p:nvPr>
            <p:ph idx="105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949440" y="4800600"/>
            <a:ext cx="457200" cy="30175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B2A6F"/>
          </a:solidFill>
          <a:ln/>
        </p:spPr>
      </p:sp>
      <p:pic>
        <p:nvPicPr>
          <p:cNvPr id="3" name="Image 0" descr="isfdy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11480"/>
            <a:ext cx="1102954" cy="404165"/>
          </a:xfrm>
          <a:prstGeom prst="rect">
            <a:avLst/>
          </a:prstGeom>
        </p:spPr>
      </p:pic>
      <p:pic>
        <p:nvPicPr>
          <p:cNvPr id="4" name="Image 1" descr="cammes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330" y="365760"/>
            <a:ext cx="704710" cy="52120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822960" y="2788920"/>
            <a:ext cx="1097280" cy="54864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6" name="Text 2"/>
          <p:cNvSpPr/>
          <p:nvPr>
            <p:ph idx="104" type="title" hasCustomPrompt="1"/>
          </p:nvPr>
        </p:nvSpPr>
        <p:spPr>
          <a:xfrm>
            <a:off x="822960" y="1280160"/>
            <a:ext cx="74980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949440" y="4800600"/>
            <a:ext cx="457200" cy="30175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4" type="title" hasCustomPrompt="1"/>
          </p:nvPr>
        </p:nvSpPr>
        <p:spPr>
          <a:xfrm>
            <a:off x="822960" y="128016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Demanda eléctrica del GBA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1945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E88E5"/>
                </a:solidFill>
              </a:rPr>
              <a:t>Regresión y alerta de alta demanda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0632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34155"/>
                </a:solidFill>
              </a:rPr>
              <a:t>Enzo Mellado · Gladys González · Lucas Pardo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TP Integrador de Aprendizaje Automático · Instituto 57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5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Problema y decisión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4206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Usuario: operador o planificador del despacho eléctrico.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Decisión: activar o no reserva adicional para una hora futura.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Falso positivo (costo 1): reserva activada de más.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Falso negativo (costo 5): pico de demanda no anticipado.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Se predice con calendario y clima de esa hora.</a:t>
            </a:r>
            <a:endParaRPr lang="en-US" sz="1500" dirty="0"/>
          </a:p>
        </p:txBody>
      </p:sp>
      <p:sp>
        <p:nvSpPr>
          <p:cNvPr id="4" name="Tarjeta"/>
          <p:cNvSpPr/>
          <p:nvPr/>
        </p:nvSpPr>
        <p:spPr>
          <a:xfrm>
            <a:off x="5029200" y="1188720"/>
            <a:ext cx="3657600" cy="960120"/>
          </a:xfrm>
          <a:prstGeom prst="rect">
            <a:avLst/>
          </a:prstGeom>
          <a:solidFill>
            <a:srgbClr val="F1F5FB"/>
          </a:solidFill>
          <a:ln w="12700">
            <a:solidFill>
              <a:srgbClr val="F1F5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0" y="1188720"/>
            <a:ext cx="64008" cy="96012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257800" y="128016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61.368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257800" y="17830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horas de demanda del GBA, 2012–2018 (CAMMESA)</a:t>
            </a:r>
            <a:endParaRPr lang="en-US" sz="1200" dirty="0"/>
          </a:p>
        </p:txBody>
      </p:sp>
      <p:sp>
        <p:nvSpPr>
          <p:cNvPr id="8" name="Tarjeta"/>
          <p:cNvSpPr/>
          <p:nvPr/>
        </p:nvSpPr>
        <p:spPr>
          <a:xfrm>
            <a:off x="5029200" y="2286000"/>
            <a:ext cx="3657600" cy="960120"/>
          </a:xfrm>
          <a:prstGeom prst="rect">
            <a:avLst/>
          </a:prstGeom>
          <a:solidFill>
            <a:srgbClr val="F1F5FB"/>
          </a:solidFill>
          <a:ln w="12700">
            <a:solidFill>
              <a:srgbClr val="F1F5F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0" y="2286000"/>
            <a:ext cx="64008" cy="960120"/>
          </a:xfrm>
          <a:prstGeom prst="rect">
            <a:avLst/>
          </a:prstGeom>
          <a:solidFill>
            <a:srgbClr val="E8923A"/>
          </a:solidFill>
          <a:ln w="12700">
            <a:solidFill>
              <a:srgbClr val="E8923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257800" y="237744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&gt; 7.307 MW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5257800" y="28803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umbral de alta demanda: percentil 90 del entrenamiento</a:t>
            </a:r>
            <a:endParaRPr lang="en-US" sz="1200" dirty="0"/>
          </a:p>
        </p:txBody>
      </p:sp>
      <p:sp>
        <p:nvSpPr>
          <p:cNvPr id="12" name="Tarjeta"/>
          <p:cNvSpPr/>
          <p:nvPr/>
        </p:nvSpPr>
        <p:spPr>
          <a:xfrm>
            <a:off x="5029200" y="3383280"/>
            <a:ext cx="3657600" cy="960120"/>
          </a:xfrm>
          <a:prstGeom prst="rect">
            <a:avLst/>
          </a:prstGeom>
          <a:solidFill>
            <a:srgbClr val="F1F5FB"/>
          </a:solidFill>
          <a:ln w="12700">
            <a:solidFill>
              <a:srgbClr val="F1F5F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3383280"/>
            <a:ext cx="64008" cy="960120"/>
          </a:xfrm>
          <a:prstGeom prst="rect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57800" y="347472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15 variables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5257800" y="397764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10 crudas de clima y calendario + 5 derivadas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949440" y="4800600"/>
            <a:ext cx="457200" cy="30175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5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Datos y protocolo de evaluación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42976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914400"/>
                <a:gridCol w="9144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Conjunto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6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Período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6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Horas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6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% alta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6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Entrenamiento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2012–2016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43.848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10,0 %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Validación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2017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8.760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10,9 %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Prueba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2018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8.760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13,9 %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288036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Se entrena con el pasado y se evalúa con el futuro. La prueba se usa solo al final.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5029200" y="1188720"/>
            <a:ext cx="3657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Sin duplicados ni horas salteadas; faltantes de clima interpolados.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Derivadas: distancia a 18 °C, hora y mes en seno y coseno.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EMAE descartado: se publica con retraso y empeora la validación.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Sin demanda de horas anteriores: la respuesta no puede estar en las entradas.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949440" y="4800600"/>
            <a:ext cx="457200" cy="30175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5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Regresión: el árbol supera a los baselines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97280"/>
          <a:ext cx="512064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arjeta"/>
          <p:cNvSpPr/>
          <p:nvPr/>
        </p:nvSpPr>
        <p:spPr>
          <a:xfrm>
            <a:off x="5760720" y="1188720"/>
            <a:ext cx="2926080" cy="868680"/>
          </a:xfrm>
          <a:prstGeom prst="rect">
            <a:avLst/>
          </a:prstGeom>
          <a:solidFill>
            <a:srgbClr val="F1F5FB"/>
          </a:solidFill>
          <a:ln w="12700">
            <a:solidFill>
              <a:srgbClr val="F1F5F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760720" y="1188720"/>
            <a:ext cx="64008" cy="86868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89320" y="12801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413 MW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5989320" y="178308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error medio: 7,1 % de la demanda media</a:t>
            </a:r>
            <a:endParaRPr lang="en-US" sz="1200" dirty="0"/>
          </a:p>
        </p:txBody>
      </p:sp>
      <p:sp>
        <p:nvSpPr>
          <p:cNvPr id="8" name="Tarjeta"/>
          <p:cNvSpPr/>
          <p:nvPr/>
        </p:nvSpPr>
        <p:spPr>
          <a:xfrm>
            <a:off x="5760720" y="2194560"/>
            <a:ext cx="2926080" cy="868680"/>
          </a:xfrm>
          <a:prstGeom prst="rect">
            <a:avLst/>
          </a:prstGeom>
          <a:solidFill>
            <a:srgbClr val="F1F5FB"/>
          </a:solidFill>
          <a:ln w="12700">
            <a:solidFill>
              <a:srgbClr val="F1F5F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760720" y="2194560"/>
            <a:ext cx="64008" cy="868680"/>
          </a:xfrm>
          <a:prstGeom prst="rect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89320" y="22860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R² 0,825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989320" y="278892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contra −0,001 del baseline de media</a:t>
            </a:r>
            <a:endParaRPr lang="en-US" sz="1200" dirty="0"/>
          </a:p>
        </p:txBody>
      </p:sp>
      <p:sp>
        <p:nvSpPr>
          <p:cNvPr id="12" name="Tarjeta"/>
          <p:cNvSpPr/>
          <p:nvPr/>
        </p:nvSpPr>
        <p:spPr>
          <a:xfrm>
            <a:off x="5760720" y="3200400"/>
            <a:ext cx="2926080" cy="1371600"/>
          </a:xfrm>
          <a:prstGeom prst="rect">
            <a:avLst/>
          </a:prstGeom>
          <a:solidFill>
            <a:srgbClr val="F1F5FB"/>
          </a:solidFill>
          <a:ln w="12700">
            <a:solidFill>
              <a:srgbClr val="F1F5F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60720" y="3200400"/>
            <a:ext cx="64008" cy="1371600"/>
          </a:xfrm>
          <a:prstGeom prst="rect">
            <a:avLst/>
          </a:prstGeom>
          <a:solidFill>
            <a:srgbClr val="E8923A"/>
          </a:solidFill>
          <a:ln w="12700">
            <a:solidFill>
              <a:srgbClr val="E8923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989320" y="32918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−59 %</a:t>
            </a:r>
            <a:endParaRPr lang="en-US" sz="2800" dirty="0"/>
          </a:p>
        </p:txBody>
      </p:sp>
      <p:sp>
        <p:nvSpPr>
          <p:cNvPr id="15" name="Text 12"/>
          <p:cNvSpPr txBox="1"/>
          <p:nvPr/>
        </p:nvSpPr>
        <p:spPr>
          <a:xfrm>
            <a:off x="5989320" y="37947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de MAE frente a la media (−32 % frente a la referencia estacional). Los picos se subestiman unos 470 MW.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949440" y="4800600"/>
            <a:ext cx="457200" cy="30175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5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Clasificación: detectar los picos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22960"/>
                <a:gridCol w="822960"/>
                <a:gridCol w="822960"/>
                <a:gridCol w="731520"/>
                <a:gridCol w="731520"/>
                <a:gridCol w="155448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Modelo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6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Prec.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6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6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F1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6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FP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6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FN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6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Costo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6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Dummy (más frecuente)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0,000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0,000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0,000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1.222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6.110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Referencia estacional + umbral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0,917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0,235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0,374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26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935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4.701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KNN (k=15, escalado)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0,827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0,570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0,675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146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525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2.771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GaussianNB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0,527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0,642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0,579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705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437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2.890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Árbol (prof. 8, pesos 1:5)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0,672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0,867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0,757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517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162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1.327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4747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Costo = FP + 5 × FN, en la prueba 2018. El árbol con pesos 1:5 deja pasar solo 162 picos: KNN tiene casi la misma accuracy (0,923 contra 0,922) pero se le escapan 525. La accuracy sola engaña con clases desbalanceadas.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949440" y="4800600"/>
            <a:ext cx="457200" cy="30175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5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Clasificador directo vs. regresión + umbral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97280"/>
          <a:ext cx="512064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arjeta"/>
          <p:cNvSpPr/>
          <p:nvPr/>
        </p:nvSpPr>
        <p:spPr>
          <a:xfrm>
            <a:off x="5760720" y="1188720"/>
            <a:ext cx="2926080" cy="868680"/>
          </a:xfrm>
          <a:prstGeom prst="rect">
            <a:avLst/>
          </a:prstGeom>
          <a:solidFill>
            <a:srgbClr val="F1F5FB"/>
          </a:solidFill>
          <a:ln w="12700">
            <a:solidFill>
              <a:srgbClr val="F1F5F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760720" y="1188720"/>
            <a:ext cx="64008" cy="86868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89320" y="12801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−45 %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5989320" y="178308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costo del directo frente a regresión + umbral</a:t>
            </a:r>
            <a:endParaRPr lang="en-US" sz="1200" dirty="0"/>
          </a:p>
        </p:txBody>
      </p:sp>
      <p:sp>
        <p:nvSpPr>
          <p:cNvPr id="8" name="Tarjeta"/>
          <p:cNvSpPr/>
          <p:nvPr/>
        </p:nvSpPr>
        <p:spPr>
          <a:xfrm>
            <a:off x="5760720" y="2194560"/>
            <a:ext cx="2926080" cy="868680"/>
          </a:xfrm>
          <a:prstGeom prst="rect">
            <a:avLst/>
          </a:prstGeom>
          <a:solidFill>
            <a:srgbClr val="F1F5FB"/>
          </a:solidFill>
          <a:ln w="12700">
            <a:solidFill>
              <a:srgbClr val="F1F5F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760720" y="2194560"/>
            <a:ext cx="64008" cy="868680"/>
          </a:xfrm>
          <a:prstGeom prst="rect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89320" y="22860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87 % vs 64 %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989320" y="278892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picos detectados (recall)</a:t>
            </a:r>
            <a:endParaRPr lang="en-US" sz="1200" dirty="0"/>
          </a:p>
        </p:txBody>
      </p:sp>
      <p:sp>
        <p:nvSpPr>
          <p:cNvPr id="12" name="Tarjeta"/>
          <p:cNvSpPr/>
          <p:nvPr/>
        </p:nvSpPr>
        <p:spPr>
          <a:xfrm>
            <a:off x="5760720" y="3200400"/>
            <a:ext cx="2926080" cy="1371600"/>
          </a:xfrm>
          <a:prstGeom prst="rect">
            <a:avLst/>
          </a:prstGeom>
          <a:solidFill>
            <a:srgbClr val="F1F5FB"/>
          </a:solidFill>
          <a:ln w="12700">
            <a:solidFill>
              <a:srgbClr val="F1F5F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60720" y="3200400"/>
            <a:ext cx="64008" cy="1371600"/>
          </a:xfrm>
          <a:prstGeom prst="rect">
            <a:avLst/>
          </a:prstGeom>
          <a:solidFill>
            <a:srgbClr val="E8923A"/>
          </a:solidFill>
          <a:ln w="12700">
            <a:solidFill>
              <a:srgbClr val="E8923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989320" y="32918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41–44 %</a:t>
            </a:r>
            <a:endParaRPr lang="en-US" sz="2800" dirty="0"/>
          </a:p>
        </p:txBody>
      </p:sp>
      <p:sp>
        <p:nvSpPr>
          <p:cNvPr id="15" name="Text 12"/>
          <p:cNvSpPr txBox="1"/>
          <p:nvPr/>
        </p:nvSpPr>
        <p:spPr>
          <a:xfrm>
            <a:off x="5989320" y="37947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de las alertas son erróneas a menos de 300 MW del umbral; solo 1–2 % a más de 800 MW.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949440" y="4800600"/>
            <a:ext cx="457200" cy="30175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5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Recomendación y limitaciones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Qué recomendamos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5448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Clasificador directo como alerta principal (recall 0,87).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La regresión informa los MW esperados y sirve de control cruzado.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Si los sistemas discrepan, se revisa el caso.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El margen de precaución es una alternativa a validar con más años.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1430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Limitaciones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55448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Entrenado con clima medido, no pronosticado: el error real puede ser mayor.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Costos 1:5 supuestos; con costos iguales cambia el orden.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Datos hasta 2018: hace falta reentrenar.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Falla en días atípicos (puentes, calor acumulado).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Un solo año de prueba.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949440" y="4800600"/>
            <a:ext cx="457200" cy="30175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MMESA TP">
  <a:themeElements>
    <a:clrScheme name="CAMMESA TP">
      <a:dk1>
        <a:srgbClr val="1F2937"/>
      </a:dk1>
      <a:lt1>
        <a:srgbClr val="FFFFFF"/>
      </a:lt1>
      <a:dk2>
        <a:srgbClr val="0B2A6F"/>
      </a:dk2>
      <a:lt2>
        <a:srgbClr val="F1F5FB"/>
      </a:lt2>
      <a:accent1>
        <a:srgbClr val="1E88E5"/>
      </a:accent1>
      <a:accent2>
        <a:srgbClr val="0B2A6F"/>
      </a:accent2>
      <a:accent3>
        <a:srgbClr val="E8923A"/>
      </a:accent3>
      <a:accent4>
        <a:srgbClr val="2E9E6B"/>
      </a:accent4>
      <a:accent5>
        <a:srgbClr val="C0392B"/>
      </a:accent5>
      <a:accent6>
        <a:srgbClr val="94A3B8"/>
      </a:accent6>
      <a:hlink>
        <a:srgbClr val="1E88E5"/>
      </a:hlink>
      <a:folHlink>
        <a:srgbClr val="0B2A6F"/>
      </a:folHlink>
    </a:clrScheme>
    <a:fontScheme name="CAMMESA TP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Demanda eléctrica del GBA</dc:title>
  <dc:subject>PptxGenJS Presentation</dc:subject>
  <dc:creator>Enzo Mellado, Gladys González, Lucas Pardo</dc:creator>
  <cp:lastModifiedBy>Enzo Mellado, Gladys González, Lucas Pardo</cp:lastModifiedBy>
  <cp:revision>1</cp:revision>
  <dcterms:created xsi:type="dcterms:W3CDTF">2026-10-21T22:38:25Z</dcterms:created>
  <dcterms:modified xsi:type="dcterms:W3CDTF">2026-10-21T22:38:25Z</dcterms:modified>
</cp:coreProperties>
</file>